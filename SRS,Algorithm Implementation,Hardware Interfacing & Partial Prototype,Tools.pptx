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4F8FC"/>
                </a:solidFill>
                <a:latin typeface="Aptos Display"/>
              </a:defRPr>
            </a:pPr>
            <a:r>
              <a:t>2. SYSTEM DESIGN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C2D4"/>
                </a:solidFill>
                <a:latin typeface="Aptos"/>
              </a:defRPr>
            </a:pPr>
            <a:r>
              <a:t>Blockchain-Based Academic Certificate Verification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560320"/>
            <a:ext cx="132588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23E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Certificate</a:t>
            </a:r>
            <a:br/>
            <a:r>
              <a:t>+ QR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2560320"/>
            <a:ext cx="132588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41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ESP32-CAM</a:t>
            </a:r>
            <a:br/>
            <a:r>
              <a:t>OV2640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2560320"/>
            <a:ext cx="132588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FAC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Wi-Fi /</a:t>
            </a:r>
            <a:br/>
            <a:r>
              <a:t>HTTP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2560320"/>
            <a:ext cx="132588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23E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Node.js /</a:t>
            </a:r>
            <a:br/>
            <a:r>
              <a:t>Express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72600" y="2560320"/>
            <a:ext cx="132588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41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React</a:t>
            </a:r>
            <a:br/>
            <a:r>
              <a:t>Frontend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3017520"/>
            <a:ext cx="411480" cy="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66160" y="3017520"/>
            <a:ext cx="411479" cy="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3017520"/>
            <a:ext cx="411480" cy="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15400" y="3017520"/>
            <a:ext cx="457200" cy="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15000" y="4160520"/>
            <a:ext cx="173736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41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MySQL</a:t>
            </a:r>
            <a:br/>
            <a:r>
              <a:t>Metadata + Logs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4160520"/>
            <a:ext cx="173736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FAC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IPFS</a:t>
            </a:r>
            <a:br/>
            <a:r>
              <a:t>Certificate PDF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5486400"/>
            <a:ext cx="3749039" cy="73152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23E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4F8FC"/>
                </a:solidFill>
                <a:latin typeface="Aptos"/>
              </a:defRPr>
            </a:pPr>
            <a:r>
              <a:t>Blockchain Smart Contract</a:t>
            </a:r>
            <a:br/>
            <a:r>
              <a:t>Trusted Certificate Record + Hash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0" y="3474720"/>
            <a:ext cx="0" cy="68580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06640" y="3474720"/>
            <a:ext cx="1188720" cy="68580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15200" y="5074920"/>
            <a:ext cx="0" cy="41148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4F8FC"/>
                </a:solidFill>
                <a:latin typeface="Aptos Display"/>
              </a:defRPr>
            </a:pPr>
            <a:r>
              <a:t>3. ALGORITHM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C2D4"/>
                </a:solidFill>
                <a:latin typeface="Aptos"/>
              </a:defRPr>
            </a:pPr>
            <a:r>
              <a:t>Certificate Verification Algorithm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1828800" cy="105156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23E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4F8FC"/>
                </a:solidFill>
                <a:latin typeface="Aptos"/>
              </a:defRPr>
            </a:pPr>
            <a:r>
              <a:t>1</a:t>
            </a:r>
            <a:br/>
            <a:r>
              <a:t>Receive Certificate ID / QR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31720" y="2578608"/>
            <a:ext cx="411480" cy="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0" y="2057400"/>
            <a:ext cx="1828800" cy="105156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23E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4F8FC"/>
                </a:solidFill>
                <a:latin typeface="Aptos"/>
              </a:defRPr>
            </a:pPr>
            <a:r>
              <a:t>2</a:t>
            </a:r>
            <a:br/>
            <a:r>
              <a:t>Retrieve Trusted Record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2578608"/>
            <a:ext cx="411480" cy="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983480" y="2057400"/>
            <a:ext cx="1828800" cy="105156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23E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4F8FC"/>
                </a:solidFill>
                <a:latin typeface="Aptos"/>
              </a:defRPr>
            </a:pPr>
            <a:r>
              <a:t>3</a:t>
            </a:r>
            <a:br/>
            <a:r>
              <a:t>Generate SHA-256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12280" y="2578608"/>
            <a:ext cx="411480" cy="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223760" y="2057400"/>
            <a:ext cx="1828800" cy="105156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23E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4F8FC"/>
                </a:solidFill>
                <a:latin typeface="Aptos"/>
              </a:defRPr>
            </a:pPr>
            <a:r>
              <a:t>4</a:t>
            </a:r>
            <a:br/>
            <a:r>
              <a:t>Compare Hash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52560" y="2578608"/>
            <a:ext cx="411480" cy="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64040" y="2057400"/>
            <a:ext cx="1828800" cy="105156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41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4F8FC"/>
                </a:solidFill>
                <a:latin typeface="Aptos"/>
              </a:defRPr>
            </a:pPr>
            <a:r>
              <a:t>5</a:t>
            </a:r>
            <a:br/>
            <a:r>
              <a:t>Show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251960"/>
            <a:ext cx="274320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23E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HASH MATCH</a:t>
            </a:r>
            <a:br/>
            <a:r>
              <a:t>→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4251960"/>
            <a:ext cx="274320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F0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4F8FC"/>
                </a:solidFill>
                <a:latin typeface="Aptos"/>
              </a:defRPr>
            </a:pPr>
            <a:r>
              <a:t>HASH MISMATCH</a:t>
            </a:r>
            <a:br/>
            <a:r>
              <a:t>→ NOT VERIFIED / TAMPERED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251960"/>
            <a:ext cx="274320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FAC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4F8FC"/>
                </a:solidFill>
                <a:latin typeface="Aptos"/>
              </a:defRPr>
            </a:pPr>
            <a:r>
              <a:t>NO TRUSTED RECORD</a:t>
            </a:r>
            <a:br/>
            <a:r>
              <a:t>→ CERTIFICATE NOT FOUND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377440" y="3108960"/>
            <a:ext cx="3703320" cy="114300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0760" y="3108960"/>
            <a:ext cx="0" cy="114300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3108960"/>
            <a:ext cx="3703320" cy="114300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4F8FC"/>
                </a:solidFill>
                <a:latin typeface="Aptos Display"/>
              </a:defRPr>
            </a:pPr>
            <a:r>
              <a:t>4. HARDWARE INTERFACING &amp; PARTIAL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C2D4"/>
                </a:solidFill>
                <a:latin typeface="Aptos"/>
              </a:defRPr>
            </a:pPr>
            <a:r>
              <a:t>Physical QR scanning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1920240" cy="105156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FAC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Printed Demo</a:t>
            </a:r>
            <a:br/>
            <a:r>
              <a:t>Certificate + QR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286000"/>
            <a:ext cx="2011680" cy="105156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23E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4F8FC"/>
                </a:solidFill>
                <a:latin typeface="Aptos"/>
              </a:defRPr>
            </a:pPr>
            <a:r>
              <a:t>AI-Thinker</a:t>
            </a:r>
            <a:br/>
            <a:r>
              <a:t>ESP32-CAM + OV2640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286000"/>
            <a:ext cx="1645920" cy="105156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41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Wi-Fi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286000"/>
            <a:ext cx="2468880" cy="105156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23E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Node.js</a:t>
            </a:r>
            <a:br/>
            <a:r>
              <a:t>Verification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297680"/>
            <a:ext cx="1828800" cy="82296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FAC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4F8FC"/>
                </a:solidFill>
                <a:latin typeface="Aptos"/>
              </a:defRPr>
            </a:pPr>
            <a:r>
              <a:t>USB-to-TTL</a:t>
            </a:r>
            <a:br/>
            <a:r>
              <a:t>Programming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4297680"/>
            <a:ext cx="2560320" cy="82296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41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React</a:t>
            </a:r>
            <a:br/>
            <a:r>
              <a:t>Verification Result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816352"/>
            <a:ext cx="685800" cy="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257800" y="2816352"/>
            <a:ext cx="685800" cy="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89520" y="2816352"/>
            <a:ext cx="640080" cy="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464040" y="3337560"/>
            <a:ext cx="0" cy="96012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251960" y="3337560"/>
            <a:ext cx="320040" cy="960120"/>
          </a:xfrm>
          <a:prstGeom prst="line">
            <a:avLst/>
          </a:prstGeom>
          <a:ln w="25400">
            <a:solidFill>
              <a:srgbClr val="FAC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4F8FC"/>
                </a:solidFill>
                <a:latin typeface="Aptos Display"/>
              </a:defRPr>
            </a:pPr>
            <a:r>
              <a:t>5. MODERN TOOLS &amp; TEAMWORK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C2D4"/>
                </a:solidFill>
                <a:latin typeface="Aptos"/>
              </a:defRPr>
            </a:pPr>
            <a:r>
              <a:t>Technology stack and team responsibility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05740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23E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React.js</a:t>
            </a:r>
            <a:br/>
            <a: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154680"/>
            <a:ext cx="205740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41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Node.js + Express</a:t>
            </a:r>
            <a:br/>
            <a:r>
              <a:t>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480560"/>
            <a:ext cx="205740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FAC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MySQL</a:t>
            </a:r>
            <a:br/>
            <a:r>
              <a:t>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828800"/>
            <a:ext cx="205740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23E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Solidity + Ethers.js</a:t>
            </a:r>
            <a:br/>
            <a:r>
              <a:t>Blockchain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3154680"/>
            <a:ext cx="205740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41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4F8FC"/>
                </a:solidFill>
                <a:latin typeface="Aptos"/>
              </a:defRPr>
            </a:pPr>
            <a:r>
              <a:t>IPFS + SHA-256</a:t>
            </a:r>
            <a:br/>
            <a:r>
              <a:t>Certificate Integrity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4480560"/>
            <a:ext cx="205740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FAC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Git + GitHub</a:t>
            </a:r>
            <a:br/>
            <a:r>
              <a:t>Version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828800"/>
            <a:ext cx="219456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23E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Member 1</a:t>
            </a:r>
            <a:br/>
            <a:r>
              <a:t>Frontend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3154680"/>
            <a:ext cx="219456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41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Member 2</a:t>
            </a:r>
            <a:br/>
            <a:r>
              <a:t>Backend + 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4480560"/>
            <a:ext cx="219456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FAC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Member 3</a:t>
            </a:r>
            <a:br/>
            <a:r>
              <a:t>Blockchain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828800"/>
            <a:ext cx="219456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F0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Member 4</a:t>
            </a:r>
            <a:br/>
            <a:r>
              <a:t>Hardware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3154680"/>
            <a:ext cx="219456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41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Member 5</a:t>
            </a:r>
            <a:br/>
            <a:r>
              <a:t>Testing + Docs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4480560"/>
            <a:ext cx="219456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23E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Shared</a:t>
            </a:r>
            <a:br/>
            <a:r>
              <a:t>Integration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1760" y="2743200"/>
            <a:ext cx="685800" cy="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394960" y="2743200"/>
            <a:ext cx="685800" cy="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75320" y="2743200"/>
            <a:ext cx="685800" cy="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4F8FC"/>
                </a:solidFill>
                <a:latin typeface="Aptos Display"/>
              </a:defRPr>
            </a:pPr>
            <a:r>
              <a:t>6. PROJECT EXECUTION &amp; REVIEW-2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C2D4"/>
                </a:solidFill>
                <a:latin typeface="Aptos"/>
              </a:defRPr>
            </a:pPr>
            <a:r>
              <a:t>What you should demonstrate during the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920240"/>
            <a:ext cx="1417320" cy="11430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23E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4F8FC"/>
                </a:solidFill>
                <a:latin typeface="Aptos"/>
              </a:defRPr>
            </a:pPr>
            <a:r>
              <a:t>Week 1–2</a:t>
            </a:r>
            <a:br/>
            <a:r>
              <a:t>Problem + Literature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2487168"/>
            <a:ext cx="246888" cy="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75688" y="1920240"/>
            <a:ext cx="1417320" cy="11430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23E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4F8FC"/>
                </a:solidFill>
                <a:latin typeface="Aptos"/>
              </a:defRPr>
            </a:pPr>
            <a:r>
              <a:t>Week 3</a:t>
            </a:r>
            <a:br/>
            <a:r>
              <a:t>SRS + Requirements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93008" y="2487168"/>
            <a:ext cx="246888" cy="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39896" y="1920240"/>
            <a:ext cx="1417320" cy="11430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23E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4F8FC"/>
                </a:solidFill>
                <a:latin typeface="Aptos"/>
              </a:defRPr>
            </a:pPr>
            <a:r>
              <a:t>Week 4</a:t>
            </a:r>
            <a:br/>
            <a:r>
              <a:t>Architecture + Database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57216" y="2487168"/>
            <a:ext cx="246888" cy="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04104" y="1920240"/>
            <a:ext cx="1417320" cy="11430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23E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4F8FC"/>
                </a:solidFill>
                <a:latin typeface="Aptos"/>
              </a:defRPr>
            </a:pPr>
            <a:r>
              <a:t>Week 5</a:t>
            </a:r>
            <a:br/>
            <a:r>
              <a:t>Frontend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21424" y="2487168"/>
            <a:ext cx="246888" cy="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68312" y="1920240"/>
            <a:ext cx="1417320" cy="11430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23E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4F8FC"/>
                </a:solidFill>
                <a:latin typeface="Aptos"/>
              </a:defRPr>
            </a:pPr>
            <a:r>
              <a:t>Week 6</a:t>
            </a:r>
            <a:br/>
            <a:r>
              <a:t>Backend + MySQL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85632" y="2487168"/>
            <a:ext cx="246888" cy="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732519" y="1920240"/>
            <a:ext cx="1417320" cy="11430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23E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4F8FC"/>
                </a:solidFill>
                <a:latin typeface="Aptos"/>
              </a:defRPr>
            </a:pPr>
            <a:r>
              <a:t>Week 7</a:t>
            </a:r>
            <a:br/>
            <a:r>
              <a:t>SHA-256 + Blockchain + IPFS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49840" y="2487168"/>
            <a:ext cx="246888" cy="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396728" y="1920240"/>
            <a:ext cx="1417320" cy="11430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FAC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4F8FC"/>
                </a:solidFill>
                <a:latin typeface="Aptos"/>
              </a:defRPr>
            </a:pPr>
            <a:r>
              <a:t>Week 8</a:t>
            </a:r>
            <a:br/>
            <a:r>
              <a:t>ESP32-CAM + Integration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60520"/>
            <a:ext cx="228600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41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PPT + SRS</a:t>
            </a:r>
            <a:br/>
            <a:r>
              <a:t>Documentation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4160520"/>
            <a:ext cx="228600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FAC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8-Week Diary</a:t>
            </a:r>
            <a:br/>
            <a:r>
              <a:t>+ Guide Signatures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160520"/>
            <a:ext cx="228600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23E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Hardware</a:t>
            </a:r>
            <a:br/>
            <a:r>
              <a:t>Physically Present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4160520"/>
            <a:ext cx="2286000" cy="914400"/>
          </a:xfrm>
          <a:prstGeom prst="roundRect">
            <a:avLst/>
          </a:prstGeom>
          <a:solidFill>
            <a:srgbClr val="1B3052"/>
          </a:solidFill>
          <a:ln w="19050">
            <a:solidFill>
              <a:srgbClr val="F0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4F8FC"/>
                </a:solidFill>
                <a:latin typeface="Aptos"/>
              </a:defRPr>
            </a:pPr>
            <a:r>
              <a:t>Partial Prototype</a:t>
            </a:r>
            <a:br/>
            <a:r>
              <a:t>Live Demo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3063240"/>
            <a:ext cx="4251960" cy="109728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572000" y="3063240"/>
            <a:ext cx="1508760" cy="109728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80760" y="3063240"/>
            <a:ext cx="1234440" cy="109728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80760" y="3063240"/>
            <a:ext cx="3977640" cy="1097280"/>
          </a:xfrm>
          <a:prstGeom prst="line">
            <a:avLst/>
          </a:prstGeom>
          <a:ln w="25400">
            <a:solidFill>
              <a:srgbClr val="23E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