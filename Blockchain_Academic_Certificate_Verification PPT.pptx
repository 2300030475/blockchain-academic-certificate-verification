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4660"/>
  </p:normalViewPr>
  <p:slideViewPr>
    <p:cSldViewPr snapToGrid="0" snapToObjects="1">
      <p:cViewPr>
        <p:scale>
          <a:sx n="92" d="100"/>
          <a:sy n="92" d="100"/>
        </p:scale>
        <p:origin x="10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325880"/>
            <a:ext cx="76809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8FC"/>
                </a:solidFill>
                <a:latin typeface="Aptos Display"/>
              </a:defRPr>
            </a:pPr>
            <a:r>
              <a:t>BLOCKCHAIN-BASED</a:t>
            </a:r>
            <a:br/>
            <a:r>
              <a:t>ACADEMIC CERTIFICATE</a:t>
            </a:r>
            <a:br/>
            <a:r>
              <a:t>VERIFICATION</a:t>
            </a:r>
          </a:p>
          <a:p>
            <a:pPr>
              <a:spcBef>
                <a:spcPts val="1400"/>
              </a:spcBef>
              <a:defRPr sz="1800">
                <a:solidFill>
                  <a:srgbClr val="23EBB8"/>
                </a:solidFill>
                <a:latin typeface="Aptos"/>
              </a:defRPr>
            </a:pPr>
            <a:r>
              <a:t>Review – 2 Presentation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5462" y="4011374"/>
            <a:ext cx="4657172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2D4"/>
                </a:solidFill>
                <a:latin typeface="Aptos"/>
              </a:defRPr>
            </a:pPr>
            <a:r>
              <a:rPr sz="1600" b="1" dirty="0"/>
              <a:t>Team Members: </a:t>
            </a:r>
            <a:r>
              <a:rPr lang="en-IN" sz="1600" b="1" dirty="0"/>
              <a:t>                                            ID Number: </a:t>
            </a:r>
          </a:p>
          <a:p>
            <a:pPr>
              <a:defRPr sz="1000">
                <a:solidFill>
                  <a:srgbClr val="B2C2D4"/>
                </a:solidFill>
                <a:latin typeface="Aptos"/>
              </a:defRPr>
            </a:pPr>
            <a:r>
              <a:rPr lang="en-IN" sz="1600" dirty="0"/>
              <a:t> </a:t>
            </a:r>
          </a:p>
          <a:p>
            <a:pPr>
              <a:defRPr sz="1000">
                <a:solidFill>
                  <a:srgbClr val="B2C2D4"/>
                </a:solidFill>
                <a:latin typeface="Aptos"/>
              </a:defRPr>
            </a:pPr>
            <a:r>
              <a:rPr lang="en-IN" sz="1600" dirty="0"/>
              <a:t>G.SIRI                                                                    2300030208</a:t>
            </a:r>
          </a:p>
          <a:p>
            <a:pPr>
              <a:defRPr sz="1000">
                <a:solidFill>
                  <a:srgbClr val="B2C2D4"/>
                </a:solidFill>
                <a:latin typeface="Aptos"/>
              </a:defRPr>
            </a:pPr>
            <a:r>
              <a:rPr lang="en-IN" sz="1600" dirty="0"/>
              <a:t>K.SIRISHA                                                           2300030806</a:t>
            </a:r>
          </a:p>
          <a:p>
            <a:pPr>
              <a:defRPr sz="1000">
                <a:solidFill>
                  <a:srgbClr val="B2C2D4"/>
                </a:solidFill>
                <a:latin typeface="Aptos"/>
              </a:defRPr>
            </a:pPr>
            <a:r>
              <a:rPr lang="en-IN" sz="1600" dirty="0"/>
              <a:t>P.MOUNIKA                                                       2300033496</a:t>
            </a:r>
          </a:p>
          <a:p>
            <a:pPr>
              <a:defRPr sz="1000">
                <a:solidFill>
                  <a:srgbClr val="B2C2D4"/>
                </a:solidFill>
                <a:latin typeface="Aptos"/>
              </a:defRPr>
            </a:pPr>
            <a:r>
              <a:rPr lang="en-IN" sz="1600" dirty="0"/>
              <a:t>N.KARTHIVANI                                                 2300030475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50876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Manual academic certificate verification can be time-consuming and difficult to trace.</a:t>
            </a:r>
          </a:p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Forged or modified certificate documents may not be easy to detect by visual inspection alone.</a:t>
            </a:r>
          </a:p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A verifier needs a trusted reference record against which the submitted certificate can be checked.</a:t>
            </a:r>
          </a:p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The project combines SHA-256 hashing, blockchain, IPFS, QR verification and ESP32-CAM.</a:t>
            </a:r>
          </a:p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Synthetic/demo certificates are used for the prototype and are clearly labelled DEMO / PROTOTYPE.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" y="4517136"/>
            <a:ext cx="10149840" cy="59436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4964" y="4517136"/>
            <a:ext cx="64008" cy="59436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521709"/>
            <a:ext cx="987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EBB8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" y="4894949"/>
            <a:ext cx="98572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rPr dirty="0"/>
              <a:t>Compare the certificate against a trusted registered record and show a clear verification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SYSTEM ARCHITECTURE</a:t>
            </a:r>
          </a:p>
        </p:txBody>
      </p:sp>
      <p:pic>
        <p:nvPicPr>
          <p:cNvPr id="31" name="Picture 30" descr="offici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FRONTEND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React.js is used for the web interface.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Role-based access: Admin, Student, Employer / Verifier.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Admin: certificate registration, status management and verification logs.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Student: certificate details, download and QR / Certificate ID sharing.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Employer: Certificate ID search and QR-based verification.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Result page displays VERIFIED, VERIFIED or INVERIFIED/TAMPERED.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1508760"/>
            <a:ext cx="3474720" cy="11430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1508760"/>
            <a:ext cx="64008" cy="114300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99831" y="16459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EBB8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075688"/>
            <a:ext cx="3182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Register • Manage • Verify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80360"/>
            <a:ext cx="3474720" cy="11430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635240" y="2880360"/>
            <a:ext cx="64008" cy="1143000"/>
          </a:xfrm>
          <a:prstGeom prst="rect">
            <a:avLst/>
          </a:prstGeom>
          <a:solidFill>
            <a:srgbClr val="41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99831" y="3017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1CAE6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9831" y="3447288"/>
            <a:ext cx="3182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View • Download • Share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4251960"/>
            <a:ext cx="3474720" cy="11430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35240" y="4251960"/>
            <a:ext cx="64008" cy="1143000"/>
          </a:xfrm>
          <a:prstGeom prst="rect">
            <a:avLst/>
          </a:prstGeom>
          <a:solidFill>
            <a:srgbClr val="FAC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9831" y="4389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AC437"/>
                </a:solidFill>
                <a:latin typeface="Aptos"/>
              </a:defRPr>
            </a:pPr>
            <a:r>
              <a:t>EMPLOYER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9831" y="4818888"/>
            <a:ext cx="3182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Scan • Verify •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BACKEND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25633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Node.js + Express.js provides the REST API layer.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JWT authentication and bcrypt protect user accounts.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MySQL stores users, certificate metadata and verification logs.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SHA-256 is calculated from the certificate PDF for integrity checking.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Ethers.js connects the backend to the Ethereum smart contract.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IPFS stores the certificate PDF and returns its CID.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1417320"/>
            <a:ext cx="3657600" cy="9144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589520" y="1417320"/>
            <a:ext cx="64008" cy="91440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54112" y="1554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EBB8"/>
                </a:solidFill>
                <a:latin typeface="Aptos"/>
              </a:defRPr>
            </a:pPr>
            <a:r>
              <a:t>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1984248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JWT + bcrypt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2514600"/>
            <a:ext cx="3657600" cy="9144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89520" y="2514600"/>
            <a:ext cx="64008" cy="914400"/>
          </a:xfrm>
          <a:prstGeom prst="rect">
            <a:avLst/>
          </a:prstGeom>
          <a:solidFill>
            <a:srgbClr val="41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54112" y="2651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1CAE6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4112" y="3081528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3611880"/>
            <a:ext cx="3657600" cy="9144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89520" y="3611880"/>
            <a:ext cx="64008" cy="914400"/>
          </a:xfrm>
          <a:prstGeom prst="rect">
            <a:avLst/>
          </a:prstGeom>
          <a:solidFill>
            <a:srgbClr val="FAC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54112" y="37490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AC437"/>
                </a:solidFill>
                <a:latin typeface="Aptos"/>
              </a:defRPr>
            </a:pPr>
            <a:r>
              <a:t>BLOCKCHAIN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4112" y="4178808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Ethers.js + Smart Contract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4709160"/>
            <a:ext cx="3657600" cy="9144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589520" y="4709160"/>
            <a:ext cx="64008" cy="914400"/>
          </a:xfrm>
          <a:prstGeom prst="rect">
            <a:avLst/>
          </a:prstGeom>
          <a:solidFill>
            <a:srgbClr val="F67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54112" y="48463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67E43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4112" y="5276088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IPFS + SHA-256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BLOCKCHAIN, IPFS &amp; SMART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6629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The smart contract stores the trusted Certificate ID, SHA-256 hash, IPFS CID and status.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IPFS stores the actual certificate PDF; the CID identifies the stored content.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Blockchain provides a tamper-resistant reference record.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MySQL stores application metadata and verification logs.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Admin can move a registered certificate from ACTIVE to VERIFIED through the authorized workflow.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1417320"/>
            <a:ext cx="3520440" cy="11430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1417320"/>
            <a:ext cx="64008" cy="114300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99831" y="15544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EBB8"/>
                </a:solidFill>
                <a:latin typeface="Aptos"/>
              </a:defRPr>
            </a:pPr>
            <a:r>
              <a:t>SHA-256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1984248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Certificate file fingerprint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788920"/>
            <a:ext cx="3520440" cy="11430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635240" y="2788920"/>
            <a:ext cx="64008" cy="1143000"/>
          </a:xfrm>
          <a:prstGeom prst="rect">
            <a:avLst/>
          </a:prstGeom>
          <a:solidFill>
            <a:srgbClr val="41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99831" y="2926079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1CAE6"/>
                </a:solidFill>
                <a:latin typeface="Aptos"/>
              </a:defRPr>
            </a:pPr>
            <a:r>
              <a:t>IPFS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9831" y="3355848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Certificate PDF + CID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4160520"/>
            <a:ext cx="3520440" cy="114300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35240" y="4160520"/>
            <a:ext cx="64008" cy="1143000"/>
          </a:xfrm>
          <a:prstGeom prst="rect">
            <a:avLst/>
          </a:prstGeom>
          <a:solidFill>
            <a:srgbClr val="FAC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9831" y="42976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AC437"/>
                </a:solidFill>
                <a:latin typeface="Aptos"/>
              </a:defRPr>
            </a:pPr>
            <a:r>
              <a:t>BLOCKCHAIN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9831" y="4727448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Hash + CID +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infographic_slide_style_image_present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191193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RESULTS</a:t>
            </a:r>
          </a:p>
        </p:txBody>
      </p:sp>
      <p:pic>
        <p:nvPicPr>
          <p:cNvPr id="31" name="Picture 30" descr="sample_output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9788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5925312"/>
            <a:ext cx="5897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B2C2D4"/>
                </a:solidFill>
                <a:latin typeface="Aptos"/>
              </a:defRPr>
            </a:pPr>
            <a:r>
              <a:t>Sample software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1417320"/>
            <a:ext cx="4069080" cy="105156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95160" y="1417320"/>
            <a:ext cx="64008" cy="105156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59752" y="1554480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EBB8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1984248"/>
            <a:ext cx="377647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Hash matched + status ACTIVE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2697480"/>
            <a:ext cx="4069080" cy="105156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995160" y="2697480"/>
            <a:ext cx="64008" cy="1051560"/>
          </a:xfrm>
          <a:prstGeom prst="rect">
            <a:avLst/>
          </a:prstGeom>
          <a:solidFill>
            <a:srgbClr val="FAC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9752" y="2834640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AC437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3264408"/>
            <a:ext cx="377647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Hash matched + status VERIFIED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95160" y="3977639"/>
            <a:ext cx="4069080" cy="105156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995160" y="3977639"/>
            <a:ext cx="64008" cy="1051560"/>
          </a:xfrm>
          <a:prstGeom prst="rect">
            <a:avLst/>
          </a:prstGeom>
          <a:solidFill>
            <a:srgbClr val="F0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59752" y="4114800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5A5F"/>
                </a:solidFill>
                <a:latin typeface="Aptos"/>
              </a:defRPr>
            </a:pPr>
            <a:r>
              <a:t>INVERIFIED / TAMPERED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9752" y="4544568"/>
            <a:ext cx="377647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Submitted hash does not match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218" y="6247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rPr dirty="0"/>
              <a:t>HARDWARE INTERFACING</a:t>
            </a:r>
          </a:p>
        </p:txBody>
      </p:sp>
      <p:pic>
        <p:nvPicPr>
          <p:cNvPr id="31" name="Picture 30" descr="official_hardware_prot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" y="1188720"/>
            <a:ext cx="6492240" cy="47091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6062472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B2C2D4"/>
                </a:solidFill>
                <a:latin typeface="Aptos"/>
              </a:defRPr>
            </a:pPr>
            <a:r>
              <a:t>ESP32-CAM QR scanning data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409007"/>
            <a:ext cx="39776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Hardware: AI-Thinker ESP32-CAM with OV2640.</a:t>
            </a:r>
          </a:p>
          <a:p>
            <a:pPr>
              <a:spcAft>
                <a:spcPts val="9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Camera reads the QR code printed on the demo certificate.</a:t>
            </a:r>
          </a:p>
          <a:p>
            <a:pPr>
              <a:spcAft>
                <a:spcPts val="9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ESP32-CAM obtains the Certificate ID.</a:t>
            </a:r>
          </a:p>
          <a:p>
            <a:pPr>
              <a:spcAft>
                <a:spcPts val="9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Certificate ID is sent to the Node.js backend over Wi-Fi/HTTP.</a:t>
            </a:r>
          </a:p>
          <a:p>
            <a:pPr>
              <a:spcAft>
                <a:spcPts val="9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Backend performs the verification and React displays the result.</a:t>
            </a:r>
          </a:p>
          <a:p>
            <a:pPr>
              <a:spcAft>
                <a:spcPts val="9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USB-to-TTL is used for programming the ESP32-CAM.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TESTING &amp;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Development: VS Code, Node.js, React, MySQL and local/test Ethereum network.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API testing: Postman.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Test data: synthetic certificates with ACTIVE and VERIFIED states.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Test cases: valid certificate, verified certificate, tampered certificate and unknown Certificate ID.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Hardware test: ESP32-CAM scans the QR and sends the ID through Wi-Fi.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Verification logs are stored for traceability.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1417320"/>
            <a:ext cx="3657600" cy="100584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543800" y="1417320"/>
            <a:ext cx="64008" cy="100584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08392" y="1554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EBB8"/>
                </a:solidFill>
                <a:latin typeface="Aptos"/>
              </a:defRPr>
            </a:pPr>
            <a:r>
              <a:t>TEST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92" y="198424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VERIFIED certificate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2651760"/>
            <a:ext cx="3657600" cy="100584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43800" y="2651760"/>
            <a:ext cx="64008" cy="1005840"/>
          </a:xfrm>
          <a:prstGeom prst="rect">
            <a:avLst/>
          </a:prstGeom>
          <a:solidFill>
            <a:srgbClr val="FAC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08392" y="27889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AC437"/>
                </a:solidFill>
                <a:latin typeface="Aptos"/>
              </a:defRPr>
            </a:pPr>
            <a:r>
              <a:t>TEST 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321868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VERIFIED certificate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3886200"/>
            <a:ext cx="3657600" cy="100584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43800" y="3886200"/>
            <a:ext cx="64008" cy="1005840"/>
          </a:xfrm>
          <a:prstGeom prst="rect">
            <a:avLst/>
          </a:prstGeom>
          <a:solidFill>
            <a:srgbClr val="F0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08392" y="4023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5A5F"/>
                </a:solidFill>
                <a:latin typeface="Aptos"/>
              </a:defRPr>
            </a:pPr>
            <a:r>
              <a:t>TEST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8392" y="445312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Tampered PDF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5120640"/>
            <a:ext cx="3657600" cy="73152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543800" y="5120640"/>
            <a:ext cx="64008" cy="731520"/>
          </a:xfrm>
          <a:prstGeom prst="rect">
            <a:avLst/>
          </a:prstGeom>
          <a:solidFill>
            <a:srgbClr val="41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08392" y="52578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1CAE6"/>
                </a:solidFill>
                <a:latin typeface="Aptos"/>
              </a:defRPr>
            </a:pPr>
            <a:r>
              <a:t>TEST 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08392" y="5687568"/>
            <a:ext cx="3364992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Unknown 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RESOURCE &amp; RISK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1417320"/>
            <a:ext cx="3429000" cy="361188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1417320"/>
            <a:ext cx="64008" cy="361188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155448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EBB8"/>
                </a:solidFill>
                <a:latin typeface="Aptos"/>
              </a:defRPr>
            </a:pPr>
            <a:r>
              <a:t>SOFTWARE RESOURCES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1984248"/>
            <a:ext cx="31363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React.js</a:t>
            </a:r>
            <a:br/>
            <a:r>
              <a:t>Node.js + Express</a:t>
            </a:r>
            <a:br/>
            <a:r>
              <a:t>MySQL</a:t>
            </a:r>
            <a:br/>
            <a:r>
              <a:t>Solidity + Ethers.js</a:t>
            </a:r>
            <a:br/>
            <a:r>
              <a:t>IPFS</a:t>
            </a:r>
            <a:br/>
            <a:r>
              <a:t>Git / GitHub</a:t>
            </a:r>
            <a:br/>
            <a:r>
              <a:t>Postman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1417320"/>
            <a:ext cx="3429000" cy="361188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1417320"/>
            <a:ext cx="64008" cy="3611880"/>
          </a:xfrm>
          <a:prstGeom prst="rect">
            <a:avLst/>
          </a:prstGeom>
          <a:solidFill>
            <a:srgbClr val="41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155448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1CAE6"/>
                </a:solidFill>
                <a:latin typeface="Aptos"/>
              </a:defRPr>
            </a:pPr>
            <a:r>
              <a:t>HARDWARE RESOURCES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1984248"/>
            <a:ext cx="31363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AI-Thinker ESP32-CAM</a:t>
            </a:r>
            <a:br/>
            <a:r>
              <a:t>OV2640 camera</a:t>
            </a:r>
            <a:br/>
            <a:r>
              <a:t>USB-to-TTL programmer</a:t>
            </a:r>
            <a:br/>
            <a:r>
              <a:t>Jumper wires</a:t>
            </a:r>
            <a:br/>
            <a:r>
              <a:t>5V power</a:t>
            </a:r>
            <a:br/>
            <a:r>
              <a:t>Wi-Fi router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1417320"/>
            <a:ext cx="3429000" cy="361188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92440" y="1417320"/>
            <a:ext cx="64008" cy="3611880"/>
          </a:xfrm>
          <a:prstGeom prst="rect">
            <a:avLst/>
          </a:prstGeom>
          <a:solidFill>
            <a:srgbClr val="FAC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57031" y="155448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AC437"/>
                </a:solidFill>
                <a:latin typeface="Aptos"/>
              </a:defRPr>
            </a:pPr>
            <a:r>
              <a:t>RISKS &amp; MITIGATION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1984248"/>
            <a:ext cx="31363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QR failure → manual ID</a:t>
            </a:r>
            <a:br/>
            <a:r>
              <a:t>Network failure → local network</a:t>
            </a:r>
            <a:br/>
            <a:r>
              <a:t>IPFS/blockchain issue → test environment</a:t>
            </a:r>
            <a:br/>
            <a:r>
              <a:t>Modified PDF → SHA-256 mismatch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23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8600" y="411480"/>
            <a:ext cx="16002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967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8600" y="411480"/>
            <a:ext cx="0" cy="91440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6596" y="3794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" y="129387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149840" y="502920"/>
            <a:ext cx="164592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11783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1795760" y="502920"/>
            <a:ext cx="0" cy="73152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763756" y="4709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763756" y="120243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74320" y="5989320"/>
            <a:ext cx="137160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645920" y="5989320"/>
            <a:ext cx="0" cy="41148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13916" y="595731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13916" y="63687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966960" y="6309360"/>
            <a:ext cx="1737360" cy="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3495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704320" y="5715000"/>
            <a:ext cx="0" cy="594360"/>
          </a:xfrm>
          <a:prstGeom prst="line">
            <a:avLst/>
          </a:prstGeom>
          <a:ln w="15240">
            <a:solidFill>
              <a:srgbClr val="233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672316" y="627735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72316" y="5682996"/>
            <a:ext cx="64008" cy="64008"/>
          </a:xfrm>
          <a:prstGeom prst="ellipse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2C2D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F8FC"/>
                </a:solidFill>
                <a:latin typeface="Aptos Display"/>
              </a:defRPr>
            </a:pPr>
            <a:r>
              <a:t>CONCLUSION &amp; FUTURE ENHANCEMENT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1417320"/>
            <a:ext cx="5120640" cy="420624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1417320"/>
            <a:ext cx="64008" cy="4206240"/>
          </a:xfrm>
          <a:prstGeom prst="rect">
            <a:avLst/>
          </a:prstGeom>
          <a:solidFill>
            <a:srgbClr val="23E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EBB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1984248"/>
            <a:ext cx="4828031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rPr dirty="0"/>
              <a:t>• Integrated software + hardware certificate verification prototype.</a:t>
            </a:r>
            <a:br>
              <a:rPr dirty="0"/>
            </a:br>
            <a:br>
              <a:rPr dirty="0"/>
            </a:br>
            <a:r>
              <a:rPr dirty="0"/>
              <a:t>• SHA-256 checks document integrity.</a:t>
            </a:r>
            <a:br>
              <a:rPr dirty="0"/>
            </a:br>
            <a:br>
              <a:rPr dirty="0"/>
            </a:br>
            <a:r>
              <a:rPr dirty="0"/>
              <a:t>• Blockchain stores the trusted reference/status record.</a:t>
            </a:r>
            <a:br>
              <a:rPr dirty="0"/>
            </a:br>
            <a:br>
              <a:rPr dirty="0"/>
            </a:br>
            <a:r>
              <a:rPr dirty="0"/>
              <a:t>• IPFS stores certificate documents.</a:t>
            </a:r>
            <a:br>
              <a:rPr dirty="0"/>
            </a:br>
            <a:br>
              <a:rPr dirty="0"/>
            </a:br>
            <a:r>
              <a:rPr dirty="0"/>
              <a:t>• ESP32-CAM provides QR-based physical input.</a:t>
            </a:r>
            <a:br>
              <a:rPr dirty="0"/>
            </a:br>
            <a:br>
              <a:rPr dirty="0"/>
            </a:br>
            <a:r>
              <a:rPr dirty="0"/>
              <a:t>• React displays VERIFIED,</a:t>
            </a:r>
            <a:r>
              <a:rPr lang="en-IN" dirty="0"/>
              <a:t> </a:t>
            </a:r>
            <a:r>
              <a:rPr dirty="0"/>
              <a:t> INVERIFIED/TAMPERED</a:t>
            </a:r>
            <a:r>
              <a:rPr lang="en-IN" dirty="0"/>
              <a:t> or no certificate       </a:t>
            </a:r>
          </a:p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endParaRPr lang="en-IN" dirty="0"/>
          </a:p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rPr lang="en-IN" dirty="0"/>
              <a:t>   found</a:t>
            </a:r>
            <a:r>
              <a:rPr dirty="0"/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417320"/>
            <a:ext cx="5120640" cy="4206240"/>
          </a:xfrm>
          <a:prstGeom prst="roundRect">
            <a:avLst/>
          </a:prstGeom>
          <a:solidFill>
            <a:srgbClr val="1B3052"/>
          </a:solidFill>
          <a:ln w="15240">
            <a:solidFill>
              <a:srgbClr val="23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2200" y="1417320"/>
            <a:ext cx="64008" cy="4206240"/>
          </a:xfrm>
          <a:prstGeom prst="rect">
            <a:avLst/>
          </a:prstGeom>
          <a:solidFill>
            <a:srgbClr val="41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6792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1CAE6"/>
                </a:solidFill>
                <a:latin typeface="Aptos"/>
              </a:defRPr>
            </a:pPr>
            <a:r>
              <a:t>FUTURE ENHANCEMENT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1984248"/>
            <a:ext cx="4828031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4F8FC"/>
                </a:solidFill>
                <a:latin typeface="Aptos"/>
              </a:defRPr>
            </a:pPr>
            <a:r>
              <a:t>• Integrate authorized institutional records.</a:t>
            </a:r>
            <a:br/>
            <a:br/>
            <a:r>
              <a:t>• Add stronger digital identity/signatures.</a:t>
            </a:r>
            <a:br/>
            <a:br/>
            <a:r>
              <a:t>• Cloud deployment and mobile verification.</a:t>
            </a:r>
            <a:br/>
            <a:br/>
            <a:r>
              <a:t>• Improved document and QR scanning.</a:t>
            </a:r>
            <a:br/>
            <a:br/>
            <a:r>
              <a:t>• Larger-scale security and performance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794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Karthivani Nandivelugu</dc:creator>
  <cp:keywords/>
  <dc:description>generated using python-pptx</dc:description>
  <cp:lastModifiedBy>Karthivani Nandivelugu</cp:lastModifiedBy>
  <cp:revision>2</cp:revision>
  <dcterms:created xsi:type="dcterms:W3CDTF">2013-01-27T09:14:16Z</dcterms:created>
  <dcterms:modified xsi:type="dcterms:W3CDTF">2026-09-21T16:49:37Z</dcterms:modified>
  <cp:category/>
</cp:coreProperties>
</file>